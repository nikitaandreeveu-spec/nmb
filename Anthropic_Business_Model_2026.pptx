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 bIns="182880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Calibri"/>
              </a:defRPr>
            </a:pPr>
            <a:r>
              <a:t>Anthropic PBC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4A7C59"/>
                </a:solidFill>
                <a:latin typeface="Calibri"/>
              </a:defRPr>
            </a:pPr>
            <a:r>
              <a:t>The Safety-Frontier Business Model 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A7C59"/>
                </a:solidFill>
              </a:defRPr>
            </a:pPr>
            <a:r>
              <a:t>Building the responsible, outcome-driven enterprise AI infrastructure of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Business Model Canvas: Value System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• Economic Value: Claude solves real professional problems in coding, research,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• Social Value: Public Benefit Corporation structure signals safety-first commitment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• Systemic Value: Responsible Scaling Policy manages risk mitigation and resilience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• Brand Value: Ad-free 'space to think' protects integrity of user-model interaction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Key Insight: Anthropic's value proposition spans user performance, societal responsibility, systemic risk management, and brand trust—not just AI software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Strategic Innovation Pathways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Pathway 1: Digital Provenance &amp; Audit Trail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Financial auditing, regulatory compliance, accountability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Pathway 2: Governance-as-a-Service (GaaS)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Position Anthropic as 'Safety OS' for entire AI ecosystem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Pathway 3: Outcome-Based 'Agentic Workforce' ⭐ MOST VIABLE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Pay for measurable results, not compute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Addresses 2026 demand for hard ROI and trust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Strategic Focus: Combine efficiency excellence with outcome-based pricing to create uncontested market 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PESTLE Analysis: Strategic Context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Political: AI sovereignty demands &amp; geopolitical alignment create regulatory moat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Economic: Monetization shift → outcome-based pricing; $5-30B capital needs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Social: Trust gap, labor concerns, public-benefit mission as differentiator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Technological: Agentic AI frontier, vertical product success (Claude Code: 54% market share)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Legal: IP/copyright litigation, compliance frameworks becoming competitive moat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Environmental: Energy consumption, sustainability commitments, ESG differentiation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PESTLE-BMC Impact Matrix: Critical Zones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78638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Business Model Component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Geopolitics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Compute Power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Key 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Value Propositions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Key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Cost Structure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Revenue Streams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Strategic Foresight: Three Future Scenarios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Probable Future (2026): 'The Digital Coworker'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AI evolves into partner automating multi-step processes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Plausible Future (2028): 'The Trust Crisis'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Agentic loops trigger accountability crisis; 1 in 3 consumers trust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Preferable Future (Our Goal): 'The Outcome Economy'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AI as reliable 'Invisible Workforce'; pay only for measurable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Strategic Path: Drive toward Preferable Future through Constitutional AI, compliance products, and outcome-based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Executive Summary: Business Model Transformation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$50B+ Incremental Value by 2028 through Three Strategic Shifts: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1️⃣  Revenue Model: Seat-Based → Outcome-Based (+$8-12B revenue)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2️⃣  Technology: Performance-First → Efficiency-First (40-50% cost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3️⃣  Customer Engagement: Direct → Enterprise Partnerships (+$15-20B TAM)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Financial Projections: $9B (2025) → $25-30B (2028) • 38-42% CAGR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Gross Margin: 45-50% (2025) → 60-75% (2028)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Competitive Differentiation: Why Anthropic Wins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✓ Trust &amp; Compliance Moat: PBC structure + Constitutional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Regulatory compliance becomes profitable product ($2-3B potential)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✓ Efficiency Excellence: 3-4x improvements per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Green AI unlocks sustainable margin expansion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✓ Vertical Specialization: Claude Code at 54% enterprise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Domain-specific agents command 3-5x pricing premiums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✓ Sovereign AI Leadership: Claude Gov + allied nation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  → Government revenue $3-5B by 2028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Phase 1: Foundation &amp; Pilot (2026)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Q1: Pricing framework, partnerships, sovereign cloud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Q2: 10-15 outcome pilots, Accenture deal ($5-10M), Claude Gov expansion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Q3: 50-100 customers migrated, 3 verticals launched, compute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Q4: $15M+ ARR achieved, $50M+ vertical run rate, org scaling 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Target: Foundation built for Phase 2 acceleration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Phase 2-3 Goals &amp; Financial Trajectory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78638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Phase 1 (2026)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Phase 2 (2027)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Phase 3 (2028)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Annual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$12-15B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$18-22B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$25-30B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48-52%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55-60%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60-75%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Outcome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150-200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300-400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600-700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Gov Revenue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$200M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$1B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$2-3B</a:t>
                      </a:r>
                    </a:p>
                  </a:txBody>
                  <a:tcPr>
                    <a:solidFill>
                      <a:srgbClr val="F5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Digital Infrastructure &amp; Implementation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6 Core Platforms: EOMP (outcomes), VADP (verticals), RCSAP (compliance),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GAOP (green AI), GSCOC (government), CPEP (partner enablement)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🔴 CRITICAL Risks: Compute supply, geopolitics, organizational 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🟠 HIGH Risks: Outcome pricing adoption, vertical development velocity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4A7C59"/>
                </a:solidFill>
                <a:latin typeface="Calibri"/>
              </a:defRPr>
            </a:pPr>
            <a:r>
              <a:t>3-Year Investment: $324-427M (infrastructure, talent, partnerships, R&amp;D)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Success Factors: Partner execution, regulatory clarity, compute supply, talent velocity, customer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